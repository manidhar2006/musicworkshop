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Mid-semester evaluation. We turn a real ECG recording into music, then read the emotional character of that music. Four stages, and the whole thing is one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problem. Note we are NOT claiming to detect disease - algorithms already do that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citations with DOIs are in README section 11.6 and project_description section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our current data can show the music separates the rhythms, but can never show it matches a feeling.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the dissonance only ever comes from real irregularity, never from our choice of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even spacing above versus the ragged spacing below. That is the entire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there is sound in the room, play 30 seconds of each here. It lands far better than the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of it is on GitHub and reproducible from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nothing here is a diagnosis. The system reflects the rhythm it is given.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result we have. It is also the clip we hid inside the listening study as a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here whether we can use class time for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two are the ones that most suit a music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asking: can we use class time for the listening study, and does the music need to be good or only different?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 </a:t>
            </a: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0040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6C2C6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D6C2C6"/>
                </a:solidFill>
              </a:rPr>
              <a:t> 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41A24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rgbClr val="141A24"/>
                </a:solidFill>
              </a:rPr>
              <a:t> 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141A24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141A24"/>
                </a:solidFill>
              </a:rPr>
              <a:t>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2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41A24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rgbClr val="141A24"/>
                </a:solidFill>
              </a:rPr>
              <a:t> 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2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 </a:t>
            </a: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2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258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8A8E"/>
                </a:solidFill>
              </a:rPr>
              <a:t>MUSIC WORKSHOP  ·  MID-SEMESTER EVALUATION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92024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Sonifying the Heart</a:t>
            </a:r>
            <a:endParaRPr lang="en-US" sz="4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20040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D6C2C6"/>
                </a:solidFill>
              </a:rPr>
              <a:t>Turning a heartbeat into music — and reading the emotion back out</a:t>
            </a:r>
            <a:endParaRPr lang="en-US" sz="2000" dirty="0"/>
          </a:p>
        </p:txBody>
      </p:sp>
      <p:sp>
        <p:nvSpPr>
          <p:cNvPr id="5" name="dot-0.7-5.08"/>
          <p:cNvSpPr/>
          <p:nvPr/>
        </p:nvSpPr>
        <p:spPr>
          <a:xfrm>
            <a:off x="640080" y="4645152"/>
            <a:ext cx="109728" cy="109728"/>
          </a:xfrm>
          <a:prstGeom prst="ellipse">
            <a:avLst/>
          </a:prstGeom>
          <a:solidFill>
            <a:srgbClr val="9B1B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" y="4498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Chervith Reddy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47914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</a:rPr>
              <a:t>2024101076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50292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A8E"/>
                </a:solidFill>
              </a:rPr>
              <a:t>ECG data &amp; heartbeats</a:t>
            </a:r>
            <a:endParaRPr lang="en-US" sz="1200" dirty="0"/>
          </a:p>
        </p:txBody>
      </p:sp>
      <p:sp>
        <p:nvSpPr>
          <p:cNvPr id="9" name="dot-4.7-5.08"/>
          <p:cNvSpPr/>
          <p:nvPr/>
        </p:nvSpPr>
        <p:spPr>
          <a:xfrm>
            <a:off x="4297680" y="4645152"/>
            <a:ext cx="109728" cy="109728"/>
          </a:xfrm>
          <a:prstGeom prst="ellipse">
            <a:avLst/>
          </a:prstGeom>
          <a:solidFill>
            <a:srgbClr val="9B1B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17136" y="4498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Manidhar Sukasi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17136" y="47914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</a:rPr>
              <a:t>2023101067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17136" y="50292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A8E"/>
                </a:solidFill>
              </a:rPr>
              <a:t>Music &amp; integration</a:t>
            </a:r>
            <a:endParaRPr lang="en-US" sz="1200" dirty="0"/>
          </a:p>
        </p:txBody>
      </p:sp>
      <p:sp>
        <p:nvSpPr>
          <p:cNvPr id="13" name="dot-8.7-5.08"/>
          <p:cNvSpPr/>
          <p:nvPr/>
        </p:nvSpPr>
        <p:spPr>
          <a:xfrm>
            <a:off x="7955280" y="4645152"/>
            <a:ext cx="109728" cy="109728"/>
          </a:xfrm>
          <a:prstGeom prst="ellipse">
            <a:avLst/>
          </a:prstGeom>
          <a:solidFill>
            <a:srgbClr val="9B1B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74736" y="4498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Sathwik Reddy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174736" y="47914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</a:rPr>
              <a:t>2024121002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174736" y="50292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A8E"/>
                </a:solidFill>
              </a:rPr>
              <a:t>Emotion &amp; evaluation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6C2C6"/>
                </a:solidFill>
              </a:rPr>
              <a:t>ECG data  →  Heartbeats  →  Music  →  Emotion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A24"/>
                </a:solidFill>
              </a:rPr>
              <a:t>The question we started from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41A24"/>
                </a:solidFill>
              </a:rPr>
              <a:t>A heart does not beat like a metronome.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1A24"/>
                </a:solidFill>
              </a:rPr>
              <a:t>The gap between one beat and the next shifts constantly, and the same nervous system that steers those shifts also shapes how we feel.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06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6B73"/>
                </a:solidFill>
              </a:rPr>
              <a:t>So we asked:</a:t>
            </a:r>
            <a:endParaRPr lang="en-US" sz="1300" dirty="0"/>
          </a:p>
        </p:txBody>
      </p:sp>
      <p:sp>
        <p:nvSpPr>
          <p:cNvPr id="5" name="dot-0.72-3.35"/>
          <p:cNvSpPr/>
          <p:nvPr/>
        </p:nvSpPr>
        <p:spPr>
          <a:xfrm>
            <a:off x="658368" y="3063240"/>
            <a:ext cx="128016" cy="128016"/>
          </a:xfrm>
          <a:prstGeom prst="ellipse">
            <a:avLst/>
          </a:prstGeom>
          <a:solidFill>
            <a:srgbClr val="9B1B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50976" y="297180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A24"/>
                </a:solidFill>
              </a:rPr>
              <a:t>Can a heartbeat be turned into music that is honest to the rhythm?</a:t>
            </a:r>
            <a:endParaRPr lang="en-US" sz="1500" dirty="0"/>
          </a:p>
        </p:txBody>
      </p:sp>
      <p:sp>
        <p:nvSpPr>
          <p:cNvPr id="7" name="dot-0.72-4.069999999999999"/>
          <p:cNvSpPr/>
          <p:nvPr/>
        </p:nvSpPr>
        <p:spPr>
          <a:xfrm>
            <a:off x="658368" y="3721608"/>
            <a:ext cx="128016" cy="128016"/>
          </a:xfrm>
          <a:prstGeom prst="ellipse">
            <a:avLst/>
          </a:prstGeom>
          <a:solidFill>
            <a:srgbClr val="9B1B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50976" y="363016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A24"/>
                </a:solidFill>
              </a:rPr>
              <a:t>Can a listener hear the difference between a steady heart and an irregular one?</a:t>
            </a:r>
            <a:endParaRPr lang="en-US" sz="1500" dirty="0"/>
          </a:p>
        </p:txBody>
      </p:sp>
      <p:sp>
        <p:nvSpPr>
          <p:cNvPr id="9" name="dot-0.72-4.789999999999999"/>
          <p:cNvSpPr/>
          <p:nvPr/>
        </p:nvSpPr>
        <p:spPr>
          <a:xfrm>
            <a:off x="658368" y="4379976"/>
            <a:ext cx="128016" cy="128016"/>
          </a:xfrm>
          <a:prstGeom prst="ellipse">
            <a:avLst/>
          </a:prstGeom>
          <a:solidFill>
            <a:srgbClr val="5C6B7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50976" y="428853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A24"/>
                </a:solidFill>
              </a:rPr>
              <a:t>Does the emotion of that music tell us anything about the person?</a:t>
            </a:r>
            <a:endParaRPr lang="en-US" sz="1500" dirty="0"/>
          </a:p>
        </p:txBody>
      </p:sp>
      <p:sp>
        <p:nvSpPr>
          <p:cNvPr id="11" name="why-music"/>
          <p:cNvSpPr/>
          <p:nvPr/>
        </p:nvSpPr>
        <p:spPr>
          <a:xfrm>
            <a:off x="6675120" y="1280160"/>
            <a:ext cx="4846320" cy="2148840"/>
          </a:xfrm>
          <a:prstGeom prst="roundRect">
            <a:avLst>
              <a:gd name="adj" fmla="val 2553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0" y="14813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1B30"/>
                </a:solidFill>
              </a:rPr>
              <a:t>Why music, and not a number?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187452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41A24"/>
                </a:solidFill>
              </a:rPr>
              <a:t>The ear is far better than the eye at hearing timing. We notice a broken rhythm instantly, without counting. An arrhythmia is a timing disorder — so sound is the natural medium for it.</a:t>
            </a:r>
            <a:endParaRPr lang="en-US" sz="1350" dirty="0"/>
          </a:p>
        </p:txBody>
      </p:sp>
      <p:sp>
        <p:nvSpPr>
          <p:cNvPr id="14" name="already"/>
          <p:cNvSpPr/>
          <p:nvPr/>
        </p:nvSpPr>
        <p:spPr>
          <a:xfrm>
            <a:off x="6675120" y="3611880"/>
            <a:ext cx="4846320" cy="2286000"/>
          </a:xfrm>
          <a:prstGeom prst="roundRect">
            <a:avLst>
              <a:gd name="adj" fmla="val 2400"/>
            </a:avLst>
          </a:prstGeom>
          <a:solidFill>
            <a:srgbClr val="141A24"/>
          </a:solidFill>
          <a:ln w="12700">
            <a:solidFill>
              <a:srgbClr val="141A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0" y="38130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This already happens in hospitals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420624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DEDF"/>
                </a:solidFill>
              </a:rPr>
              <a:t>Cardiac monitors beep. Pulse oximeters change pitch. Anaesthetists listen while their eyes are elsewhere.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8DEDF"/>
                </a:solidFill>
              </a:rPr>
              <a:t>Our question: if we are turning the heart into sound anyway, what happens when it becomes music?</a:t>
            </a:r>
            <a:endParaRPr lang="en-US" sz="1350" dirty="0"/>
          </a:p>
        </p:txBody>
      </p:sp>
      <p:sp>
        <p:nvSpPr>
          <p:cNvPr id="18" name="Text 0"/>
          <p:cNvSpPr/>
          <p:nvPr>
            <p:ph idx="101" type="body" hasCustomPrompt="1"/>
          </p:nvPr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2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A24"/>
                </a:solidFill>
              </a:rPr>
              <a:t>Existing research we build 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</a:rPr>
              <a:t>Sonifying the body is an old idea. Reading emotion from music is a large, active field. Our contribution is joining them.</a:t>
            </a:r>
            <a:endParaRPr lang="en-US" sz="1400" dirty="0"/>
          </a:p>
        </p:txBody>
      </p:sp>
      <p:sp>
        <p:nvSpPr>
          <p:cNvPr id="4" name="res-0"/>
          <p:cNvSpPr/>
          <p:nvPr/>
        </p:nvSpPr>
        <p:spPr>
          <a:xfrm>
            <a:off x="640080" y="169164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562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1B30"/>
                </a:solidFill>
              </a:rPr>
              <a:t>Sonifying physiology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4028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41A24"/>
                </a:solidFill>
              </a:rPr>
              <a:t>Lucier, Music for Solo Performer (1965) — first work to make sound from body signals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4261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5F8B"/>
                </a:solidFill>
              </a:rPr>
              <a:t>cambridge.org/core/journals/organised-sound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99008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41A24"/>
                </a:solidFill>
              </a:rPr>
              <a:t>Scale-Free Music of the Brain, PLOS ONE — sleep stages become audibly different music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39242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5F8B"/>
                </a:solidFill>
              </a:rPr>
              <a:t>journals.plos.org/plosone (pone.0005915)</a:t>
            </a:r>
            <a:endParaRPr lang="en-US" sz="1050" dirty="0"/>
          </a:p>
        </p:txBody>
      </p:sp>
      <p:sp>
        <p:nvSpPr>
          <p:cNvPr id="10" name="res-1"/>
          <p:cNvSpPr/>
          <p:nvPr/>
        </p:nvSpPr>
        <p:spPr>
          <a:xfrm>
            <a:off x="6263640" y="169164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9672" y="18562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</a:rPr>
              <a:t>Music and emotion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224028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41A24"/>
                </a:solidFill>
              </a:rPr>
              <a:t>Russell (1980), A circumplex model of affect — the valence/arousal plane we use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264261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5F8B"/>
                </a:solidFill>
              </a:rPr>
              <a:t>Journal of Personality &amp; Social Psychology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299008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41A24"/>
                </a:solidFill>
              </a:rPr>
              <a:t>Gabrielsson &amp; Lindström (2010) — which musical features carry which emotions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339242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5F8B"/>
                </a:solidFill>
              </a:rPr>
              <a:t>Handbook of Music and Emotion, OUP</a:t>
            </a:r>
            <a:endParaRPr lang="en-US" sz="1050" dirty="0"/>
          </a:p>
        </p:txBody>
      </p:sp>
      <p:sp>
        <p:nvSpPr>
          <p:cNvPr id="16" name="res-2"/>
          <p:cNvSpPr/>
          <p:nvPr/>
        </p:nvSpPr>
        <p:spPr>
          <a:xfrm>
            <a:off x="640080" y="397764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41422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B73"/>
                </a:solidFill>
              </a:rPr>
              <a:t>Models we cross-check against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452628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41A24"/>
                </a:solidFill>
              </a:rPr>
              <a:t>Essentia (Bogdanov et al., ISMIR 2013) — pretrained mood and valence/arousal models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92861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5F8B"/>
                </a:solidFill>
              </a:rPr>
              <a:t>essentia.upf.edu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96112" y="527608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41A24"/>
                </a:solidFill>
              </a:rPr>
              <a:t>music2emo (Kang &amp; Herremans, 2025) — unified music emotion recognition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567842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5F8B"/>
                </a:solidFill>
              </a:rPr>
              <a:t>arxiv.org/abs/2502.03979</a:t>
            </a:r>
            <a:endParaRPr lang="en-US" sz="1050" dirty="0"/>
          </a:p>
        </p:txBody>
      </p:sp>
      <p:sp>
        <p:nvSpPr>
          <p:cNvPr id="22" name="res-3"/>
          <p:cNvSpPr/>
          <p:nvPr/>
        </p:nvSpPr>
        <p:spPr>
          <a:xfrm>
            <a:off x="6263640" y="397764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19672" y="41422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</a:rPr>
              <a:t>Where the data comes from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519672" y="452628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41A24"/>
                </a:solidFill>
              </a:rPr>
              <a:t>Goldberger et al. (2000), PhysioNet — the open archive our recordings come from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19672" y="492861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5F8B"/>
                </a:solidFill>
              </a:rPr>
              <a:t>doi.org/10.1161/01.CIR.101.23.e215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519672" y="527608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41A24"/>
                </a:solidFill>
              </a:rPr>
              <a:t>Moody &amp; Mark — the MIT-BIH databases, and AF detection from R-R intervals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19672" y="567842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5F8B"/>
                </a:solidFill>
              </a:rPr>
              <a:t>physionet.org</a:t>
            </a:r>
            <a:endParaRPr lang="en-US" sz="1050" dirty="0"/>
          </a:p>
        </p:txBody>
      </p:sp>
      <p:sp>
        <p:nvSpPr>
          <p:cNvPr id="29" name="Text 0"/>
          <p:cNvSpPr/>
          <p:nvPr>
            <p:ph idx="101" type="body" hasCustomPrompt="1"/>
          </p:nvPr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2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A24"/>
                </a:solidFill>
              </a:rPr>
              <a:t>Available datasets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</a:rPr>
              <a:t>All open, all from PhysioNet or public research archives.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B1B30"/>
                </a:solidFill>
              </a:rPr>
              <a:t>WHAT WE USE NOW</a:t>
            </a:r>
            <a:endParaRPr lang="en-US" sz="1200" dirty="0"/>
          </a:p>
        </p:txBody>
      </p:sp>
      <p:sp>
        <p:nvSpPr>
          <p:cNvPr id="5" name="card-MIT-BIH Atrial Fibrillation"/>
          <p:cNvSpPr/>
          <p:nvPr/>
        </p:nvSpPr>
        <p:spPr>
          <a:xfrm>
            <a:off x="640080" y="2011680"/>
            <a:ext cx="5349240" cy="1554480"/>
          </a:xfrm>
          <a:prstGeom prst="roundRect">
            <a:avLst>
              <a:gd name="adj" fmla="val 3529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49424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4"/>
                </a:solidFill>
              </a:rPr>
              <a:t>MIT-BIH Atrial Fibrillation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70048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4"/>
                </a:solidFill>
              </a:rPr>
              <a:t>25 long recordings of adults with AF. Most contain both a healthy rhythm and an irregular one, so we hear the same person in both states. Expert-labelled, 250 Hz.</a:t>
            </a:r>
            <a:endParaRPr lang="en-US" sz="1300" dirty="0"/>
          </a:p>
        </p:txBody>
      </p:sp>
      <p:sp>
        <p:nvSpPr>
          <p:cNvPr id="8" name="card-MIT-BIH Arrhythmia"/>
          <p:cNvSpPr/>
          <p:nvPr/>
        </p:nvSpPr>
        <p:spPr>
          <a:xfrm>
            <a:off x="640080" y="365760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895344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4"/>
                </a:solidFill>
              </a:rPr>
              <a:t>MIT-BIH Arrhythmia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315968"/>
            <a:ext cx="4800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4"/>
                </a:solidFill>
              </a:rPr>
              <a:t>48 half-hour excerpts from 47 people, with beat annotations checked by two or more cardiologists. Adds two more recordings with both rhythms.</a:t>
            </a:r>
            <a:endParaRPr lang="en-US" sz="1300" dirty="0"/>
          </a:p>
        </p:txBody>
      </p:sp>
      <p:sp>
        <p:nvSpPr>
          <p:cNvPr id="11" name="nolabels"/>
          <p:cNvSpPr/>
          <p:nvPr/>
        </p:nvSpPr>
        <p:spPr>
          <a:xfrm>
            <a:off x="640080" y="516636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BEEF0"/>
          </a:solidFill>
          <a:ln w="12700">
            <a:solidFill>
              <a:srgbClr val="FBEE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53492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9B1B30"/>
                </a:solidFill>
              </a:rPr>
              <a:t>The limitation: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41A24"/>
                </a:solidFill>
              </a:rPr>
              <a:t>these are cardiology archives from 1975–1983. They contain no emotion data at all — so our emotion claim cannot be tested on them.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16916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5F8B"/>
                </a:solidFill>
              </a:rPr>
              <a:t>WHAT WE WOULD NEED TO VALIDATE EMOTION</a:t>
            </a:r>
            <a:endParaRPr lang="en-US" sz="1200" dirty="0"/>
          </a:p>
        </p:txBody>
      </p:sp>
      <p:sp>
        <p:nvSpPr>
          <p:cNvPr id="14" name="val-0"/>
          <p:cNvSpPr/>
          <p:nvPr/>
        </p:nvSpPr>
        <p:spPr>
          <a:xfrm>
            <a:off x="6537960" y="2011680"/>
            <a:ext cx="4983480" cy="914400"/>
          </a:xfrm>
          <a:prstGeom prst="roundRect">
            <a:avLst>
              <a:gd name="adj" fmla="val 6000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84848" y="2139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</a:rPr>
              <a:t>WESAD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1671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227"/>
                </a:solidFill>
              </a:rPr>
              <a:t>15 people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4848" y="241401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41A24"/>
                </a:solidFill>
              </a:rPr>
              <a:t>chest ECG, with stress / amusement / neutral conditions and self-report questionnaires</a:t>
            </a:r>
            <a:endParaRPr lang="en-US" sz="1200" dirty="0"/>
          </a:p>
        </p:txBody>
      </p:sp>
      <p:sp>
        <p:nvSpPr>
          <p:cNvPr id="18" name="val-1"/>
          <p:cNvSpPr/>
          <p:nvPr/>
        </p:nvSpPr>
        <p:spPr>
          <a:xfrm>
            <a:off x="6537960" y="3035808"/>
            <a:ext cx="4983480" cy="914400"/>
          </a:xfrm>
          <a:prstGeom prst="roundRect">
            <a:avLst>
              <a:gd name="adj" fmla="val 6000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84848" y="3163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</a:rPr>
              <a:t>DREAMER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31912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227"/>
                </a:solidFill>
              </a:rPr>
              <a:t>23 people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343814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41A24"/>
                </a:solidFill>
              </a:rPr>
              <a:t>ECG and EEG while watching 18 film clips, each rated by the viewer</a:t>
            </a:r>
            <a:endParaRPr lang="en-US" sz="1200" dirty="0"/>
          </a:p>
        </p:txBody>
      </p:sp>
      <p:sp>
        <p:nvSpPr>
          <p:cNvPr id="22" name="val-2"/>
          <p:cNvSpPr/>
          <p:nvPr/>
        </p:nvSpPr>
        <p:spPr>
          <a:xfrm>
            <a:off x="6537960" y="4059936"/>
            <a:ext cx="4983480" cy="914400"/>
          </a:xfrm>
          <a:prstGeom prst="roundRect">
            <a:avLst>
              <a:gd name="adj" fmla="val 6000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84848" y="4187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</a:rPr>
              <a:t>AMIGOS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42153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227"/>
                </a:solidFill>
              </a:rPr>
              <a:t>40 people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84848" y="446227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41A24"/>
                </a:solidFill>
              </a:rPr>
              <a:t>ECG, EEG and skin response, with self-rated valence, arousal and liking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51206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C6B73"/>
                </a:solidFill>
              </a:rPr>
              <a:t>All three pair physiology with what the person actually reported feeling — which is exactly what ours lack.</a:t>
            </a:r>
            <a:endParaRPr lang="en-US" sz="1250" dirty="0"/>
          </a:p>
        </p:txBody>
      </p:sp>
      <p:sp>
        <p:nvSpPr>
          <p:cNvPr id="28" name="Text 0"/>
          <p:cNvSpPr/>
          <p:nvPr>
            <p:ph idx="101" type="body" hasCustomPrompt="1"/>
          </p:nvPr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2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A24"/>
                </a:solidFill>
              </a:rPr>
              <a:t>Our approach — four stages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</a:rPr>
              <a:t>Each stage is a plain, stated rule. Nothing is learned from data, so every musical decision can be explained and defended.</a:t>
            </a:r>
            <a:endParaRPr lang="en-US" sz="1400" dirty="0"/>
          </a:p>
        </p:txBody>
      </p:sp>
      <p:sp>
        <p:nvSpPr>
          <p:cNvPr id="4" name="card-ECG data"/>
          <p:cNvSpPr/>
          <p:nvPr/>
        </p:nvSpPr>
        <p:spPr>
          <a:xfrm>
            <a:off x="640080" y="178308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5" name="num-1"/>
          <p:cNvSpPr/>
          <p:nvPr/>
        </p:nvSpPr>
        <p:spPr>
          <a:xfrm>
            <a:off x="914400" y="2020824"/>
            <a:ext cx="402336" cy="402336"/>
          </a:xfrm>
          <a:prstGeom prst="ellipse">
            <a:avLst/>
          </a:prstGeom>
          <a:solidFill>
            <a:srgbClr val="9B1B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26464" y="202082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1B30"/>
                </a:solidFill>
              </a:rPr>
              <a:t>ECG data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69464"/>
            <a:ext cx="20574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4"/>
                </a:solidFill>
              </a:rPr>
              <a:t>A real recording, streamed from PhysioNet.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4"/>
                </a:solidFill>
              </a:rPr>
              <a:t>Any ECG file works — no annotations needed.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255264" y="2514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3CCD2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card-Heartbeats"/>
          <p:cNvSpPr/>
          <p:nvPr/>
        </p:nvSpPr>
        <p:spPr>
          <a:xfrm>
            <a:off x="3447288" y="178308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11" name="num-2"/>
          <p:cNvSpPr/>
          <p:nvPr/>
        </p:nvSpPr>
        <p:spPr>
          <a:xfrm>
            <a:off x="3721608" y="2020824"/>
            <a:ext cx="402336" cy="402336"/>
          </a:xfrm>
          <a:prstGeom prst="ellipse">
            <a:avLst/>
          </a:prstGeom>
          <a:solidFill>
            <a:srgbClr val="9B1B3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21608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233672" y="202082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1B30"/>
                </a:solidFill>
              </a:rPr>
              <a:t>Heartbeats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21608" y="2569464"/>
            <a:ext cx="20574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4"/>
                </a:solidFill>
              </a:rPr>
              <a:t>Find each beat, measure the gap to the next.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4"/>
                </a:solidFill>
              </a:rPr>
              <a:t>That gap, and how it changes, is the whole input.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62472" y="2514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3CCD2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card-Music"/>
          <p:cNvSpPr/>
          <p:nvPr/>
        </p:nvSpPr>
        <p:spPr>
          <a:xfrm>
            <a:off x="6254496" y="178308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17" name="num-3"/>
          <p:cNvSpPr/>
          <p:nvPr/>
        </p:nvSpPr>
        <p:spPr>
          <a:xfrm>
            <a:off x="6528816" y="2020824"/>
            <a:ext cx="402336" cy="402336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28816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202082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</a:rPr>
              <a:t>Music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28816" y="2569464"/>
            <a:ext cx="20574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4"/>
                </a:solidFill>
              </a:rPr>
              <a:t>One heartbeat becomes one note.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4"/>
                </a:solidFill>
              </a:rPr>
              <a:t>Strings and a lub-dub pulse follow the same rhythm.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0" y="25146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3CCD2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card-Emotion"/>
          <p:cNvSpPr/>
          <p:nvPr/>
        </p:nvSpPr>
        <p:spPr>
          <a:xfrm>
            <a:off x="9061704" y="1783080"/>
            <a:ext cx="2606040" cy="2011680"/>
          </a:xfrm>
          <a:prstGeom prst="roundRect">
            <a:avLst>
              <a:gd name="adj" fmla="val 2727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23" name="num-4"/>
          <p:cNvSpPr/>
          <p:nvPr/>
        </p:nvSpPr>
        <p:spPr>
          <a:xfrm>
            <a:off x="9336024" y="2020824"/>
            <a:ext cx="402336" cy="402336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36024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848088" y="202082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</a:rPr>
              <a:t>Emotion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336024" y="2569464"/>
            <a:ext cx="20574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4"/>
                </a:solidFill>
              </a:rPr>
              <a:t>Place the music on the valence–arousal plane.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4"/>
                </a:solidFill>
              </a:rPr>
              <a:t>Two pretrained models give second opinions.</a:t>
            </a:r>
            <a:endParaRPr lang="en-US" sz="1300" dirty="0"/>
          </a:p>
        </p:txBody>
      </p:sp>
      <p:sp>
        <p:nvSpPr>
          <p:cNvPr id="27" name="rule"/>
          <p:cNvSpPr/>
          <p:nvPr/>
        </p:nvSpPr>
        <p:spPr>
          <a:xfrm>
            <a:off x="640080" y="4069080"/>
            <a:ext cx="10881360" cy="1828800"/>
          </a:xfrm>
          <a:prstGeom prst="roundRect">
            <a:avLst>
              <a:gd name="adj" fmla="val 3000"/>
            </a:avLst>
          </a:prstGeom>
          <a:solidFill>
            <a:srgbClr val="141A24"/>
          </a:solidFill>
          <a:ln w="12700">
            <a:solidFill>
              <a:srgbClr val="141A2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" y="427939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The one rule that matters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60120" y="464515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</a:rPr>
              <a:t>Every heartbeat becomes exactly one note.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DEDF"/>
                </a:solidFill>
              </a:rPr>
              <a:t>It starts at the beat, and lasts as long as the gap to the next one — so the rhythm of the music is the rhythm of the heart. Its pitch follows whether the beat came early or late.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52303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8DEDF"/>
                </a:solidFill>
              </a:rPr>
              <a:t>While the beat stays close to schedule the melody uses a five-note scale that cannot sound wrong. Once it drifts past 12%, the melody leaves that scale and the chords sour.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</a:rPr>
              <a:t>A steady heart is incapable of sounding tense.</a:t>
            </a:r>
            <a:endParaRPr lang="en-US" sz="1450" dirty="0"/>
          </a:p>
        </p:txBody>
      </p:sp>
      <p:sp>
        <p:nvSpPr>
          <p:cNvPr id="32" name="Text 0"/>
          <p:cNvSpPr/>
          <p:nvPr>
            <p:ph idx="101" type="body" hasCustomPrompt="1"/>
          </p:nvPr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2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A24"/>
                </a:solidFill>
              </a:rPr>
              <a:t>What the heart gives us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</a:rPr>
              <a:t>The same person, 30 seconds apart. Each dot is one heartbeat — and the spacing is the only thing our music is built from.</a:t>
            </a:r>
            <a:endParaRPr lang="en-US" sz="1400" dirty="0"/>
          </a:p>
        </p:txBody>
      </p:sp>
      <p:pic>
        <p:nvPicPr>
          <p:cNvPr id="4" name="Image 0" descr="/tmp/claude-1000/-home-manidhar-Desktop-Sem-7-Music-Workshop-Project/2493b3da-a615-4496-ad45-0b72b0ac5680/scratchpad/deck/fig_ec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10881360" cy="4160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49B"/>
                </a:solidFill>
              </a:rPr>
              <a:t>MIT-BIH record 04043 — the upper trace is this patient's healthy rhythm, the lower one is the same patient in atrial fibrillation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2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A24"/>
                </a:solidFill>
              </a:rPr>
              <a:t>What comes out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</a:rPr>
              <a:t>The same two clips, turned into melody. Nothing was tuned per-clip — one rule produced both.</a:t>
            </a:r>
            <a:endParaRPr lang="en-US" sz="1400" dirty="0"/>
          </a:p>
        </p:txBody>
      </p:sp>
      <p:pic>
        <p:nvPicPr>
          <p:cNvPr id="4" name="Image 0" descr="/tmp/claude-1000/-home-manidhar-Desktop-Sem-7-Music-Workshop-Project/2493b3da-a615-4496-ad45-0b72b0ac5680/scratchpad/deck/fig_melo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10881360" cy="3977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7607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41A24"/>
                </a:solidFill>
              </a:rPr>
              <a:t>A healthy heart holds one note. An irregular heart scatters across three octaves, and half its notes fall outside the scale.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2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A24"/>
                </a:solidFill>
              </a:rPr>
              <a:t>What we have produced so far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B1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40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3"/>
                </a:solidFill>
              </a:rPr>
              <a:t>pieces of music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C6B73"/>
                </a:solidFill>
              </a:rPr>
              <a:t>from 7 recordings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447288" y="13716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B1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447288" y="2240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3"/>
                </a:solidFill>
              </a:rPr>
              <a:t>patients, each heard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C6B73"/>
                </a:solidFill>
              </a:rPr>
              <a:t>in both rhythms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54496" y="13716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254496" y="2240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3"/>
                </a:solidFill>
              </a:rPr>
              <a:t>emotion models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C6B73"/>
                </a:solidFill>
              </a:rPr>
              <a:t>compared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061704" y="13716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9061704" y="2240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3"/>
                </a:solidFill>
              </a:rPr>
              <a:t>of results reproduced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C6B73"/>
                </a:solidFill>
              </a:rPr>
              <a:t>by a clean rebuild</a:t>
            </a:r>
            <a:endParaRPr lang="en-US" sz="1300" dirty="0"/>
          </a:p>
        </p:txBody>
      </p:sp>
      <p:sp>
        <p:nvSpPr>
          <p:cNvPr id="11" name="out-0"/>
          <p:cNvSpPr/>
          <p:nvPr/>
        </p:nvSpPr>
        <p:spPr>
          <a:xfrm>
            <a:off x="640080" y="320040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12" name="dot-1-3.83"/>
          <p:cNvSpPr/>
          <p:nvPr/>
        </p:nvSpPr>
        <p:spPr>
          <a:xfrm>
            <a:off x="914400" y="3502152"/>
            <a:ext cx="118872" cy="118872"/>
          </a:xfrm>
          <a:prstGeom prst="ellipse">
            <a:avLst/>
          </a:prstGeom>
          <a:solidFill>
            <a:srgbClr val="9B1B3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52144" y="3383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4"/>
                </a:solidFill>
              </a:rPr>
              <a:t>The music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" y="37307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6B73"/>
                </a:solidFill>
              </a:rPr>
              <a:t>Melody, string harmony and a heartbeat pulse, as MIDI and audio, for every clip.</a:t>
            </a:r>
            <a:endParaRPr lang="en-US" sz="1300" dirty="0"/>
          </a:p>
        </p:txBody>
      </p:sp>
      <p:sp>
        <p:nvSpPr>
          <p:cNvPr id="15" name="out-1"/>
          <p:cNvSpPr/>
          <p:nvPr/>
        </p:nvSpPr>
        <p:spPr>
          <a:xfrm>
            <a:off x="6263640" y="320040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16" name="dot-7.15-3.83"/>
          <p:cNvSpPr/>
          <p:nvPr/>
        </p:nvSpPr>
        <p:spPr>
          <a:xfrm>
            <a:off x="6537960" y="3502152"/>
            <a:ext cx="118872" cy="118872"/>
          </a:xfrm>
          <a:prstGeom prst="ellipse">
            <a:avLst/>
          </a:prstGeom>
          <a:solidFill>
            <a:srgbClr val="9B1B3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75704" y="3383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4"/>
                </a:solidFill>
              </a:rPr>
              <a:t>The figures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75704" y="37307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6B73"/>
                </a:solidFill>
              </a:rPr>
              <a:t>A score plot per piece showing the ECG, the timing, and the generated music on one time axis.</a:t>
            </a:r>
            <a:endParaRPr lang="en-US" sz="1300" dirty="0"/>
          </a:p>
        </p:txBody>
      </p:sp>
      <p:sp>
        <p:nvSpPr>
          <p:cNvPr id="19" name="out-2"/>
          <p:cNvSpPr/>
          <p:nvPr/>
        </p:nvSpPr>
        <p:spPr>
          <a:xfrm>
            <a:off x="640080" y="461772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20" name="dot-1-5.38"/>
          <p:cNvSpPr/>
          <p:nvPr/>
        </p:nvSpPr>
        <p:spPr>
          <a:xfrm>
            <a:off x="914400" y="4919472"/>
            <a:ext cx="118872" cy="118872"/>
          </a:xfrm>
          <a:prstGeom prst="ellipse">
            <a:avLst/>
          </a:prstGeom>
          <a:solidFill>
            <a:srgbClr val="9B1B3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52144" y="4800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4"/>
                </a:solidFill>
              </a:rPr>
              <a:t>The code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51480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6B73"/>
                </a:solidFill>
              </a:rPr>
              <a:t>One self-contained notebook — every stage, explained, runs top to bottom in four minutes.</a:t>
            </a:r>
            <a:endParaRPr lang="en-US" sz="1300" dirty="0"/>
          </a:p>
        </p:txBody>
      </p:sp>
      <p:sp>
        <p:nvSpPr>
          <p:cNvPr id="23" name="out-3"/>
          <p:cNvSpPr/>
          <p:nvPr/>
        </p:nvSpPr>
        <p:spPr>
          <a:xfrm>
            <a:off x="6263640" y="461772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24" name="dot-7.15-5.38"/>
          <p:cNvSpPr/>
          <p:nvPr/>
        </p:nvSpPr>
        <p:spPr>
          <a:xfrm>
            <a:off x="6537960" y="4919472"/>
            <a:ext cx="118872" cy="118872"/>
          </a:xfrm>
          <a:prstGeom prst="ellipse">
            <a:avLst/>
          </a:prstGeom>
          <a:solidFill>
            <a:srgbClr val="9B1B3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75704" y="4800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4"/>
                </a:solidFill>
              </a:rPr>
              <a:t>The documentation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775704" y="51480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6B73"/>
                </a:solidFill>
              </a:rPr>
              <a:t>Full write-up, dated progress log, and a plan stating what is proven and what is not.</a:t>
            </a:r>
            <a:endParaRPr lang="en-US" sz="1300" dirty="0"/>
          </a:p>
        </p:txBody>
      </p:sp>
      <p:sp>
        <p:nvSpPr>
          <p:cNvPr id="28" name="Text 0"/>
          <p:cNvSpPr/>
          <p:nvPr>
            <p:ph idx="101" type="body" hasCustomPrompt="1"/>
          </p:nvPr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2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A24"/>
                </a:solidFill>
              </a:rPr>
              <a:t>The result, in one picture</a:t>
            </a:r>
            <a:endParaRPr lang="en-US" sz="3400" dirty="0"/>
          </a:p>
        </p:txBody>
      </p:sp>
      <p:pic>
        <p:nvPicPr>
          <p:cNvPr id="3" name="Image 0" descr="/tmp/claude-1000/-home-manidhar-Desktop-Sem-7-Music-Workshop-Project/2493b3da-a615-4496-ad45-0b72b0ac5680/scratchpad/deck/fig_circumpl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4937760" cy="4663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0" y="13716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41A24"/>
                </a:solidFill>
              </a:rPr>
              <a:t>Every arrow runs from a patient's healthy rhythm to their own irregular rhythm.</a:t>
            </a:r>
            <a:endParaRPr lang="en-US" sz="1500" dirty="0"/>
          </a:p>
        </p:txBody>
      </p:sp>
      <p:sp>
        <p:nvSpPr>
          <p:cNvPr id="5" name="dot-7-2.45"/>
          <p:cNvSpPr/>
          <p:nvPr/>
        </p:nvSpPr>
        <p:spPr>
          <a:xfrm>
            <a:off x="6400800" y="2240280"/>
            <a:ext cx="128016" cy="128016"/>
          </a:xfrm>
          <a:prstGeom prst="ellipse">
            <a:avLst/>
          </a:prstGeom>
          <a:solidFill>
            <a:srgbClr val="9B1B3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693408" y="2148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A24"/>
                </a:solidFill>
              </a:rPr>
              <a:t>All 7 healthy rhythms land in the calm quadrant.</a:t>
            </a:r>
            <a:endParaRPr lang="en-US" sz="1400" dirty="0"/>
          </a:p>
        </p:txBody>
      </p:sp>
      <p:sp>
        <p:nvSpPr>
          <p:cNvPr id="7" name="dot-7-3.37"/>
          <p:cNvSpPr/>
          <p:nvPr/>
        </p:nvSpPr>
        <p:spPr>
          <a:xfrm>
            <a:off x="6400800" y="3081528"/>
            <a:ext cx="128016" cy="128016"/>
          </a:xfrm>
          <a:prstGeom prst="ellipse">
            <a:avLst/>
          </a:prstGeom>
          <a:solidFill>
            <a:srgbClr val="9B1B3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693408" y="299008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A24"/>
                </a:solidFill>
              </a:rPr>
              <a:t>6 of 7 irregular rhythms land in the tense quadrant.</a:t>
            </a:r>
            <a:endParaRPr lang="en-US" sz="1400" dirty="0"/>
          </a:p>
        </p:txBody>
      </p:sp>
      <p:sp>
        <p:nvSpPr>
          <p:cNvPr id="9" name="dot-7-4.29"/>
          <p:cNvSpPr/>
          <p:nvPr/>
        </p:nvSpPr>
        <p:spPr>
          <a:xfrm>
            <a:off x="6400800" y="3922776"/>
            <a:ext cx="128016" cy="128016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693408" y="3831336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A24"/>
                </a:solidFill>
              </a:rPr>
              <a:t>Every arrow points the same way — less pleasant, more agitated. 7 out of 7, on both axes.</a:t>
            </a:r>
            <a:endParaRPr lang="en-US" sz="1400" dirty="0"/>
          </a:p>
        </p:txBody>
      </p:sp>
      <p:sp>
        <p:nvSpPr>
          <p:cNvPr id="11" name="dot-7-5.21"/>
          <p:cNvSpPr/>
          <p:nvPr/>
        </p:nvSpPr>
        <p:spPr>
          <a:xfrm>
            <a:off x="6400800" y="4764024"/>
            <a:ext cx="128016" cy="128016"/>
          </a:xfrm>
          <a:prstGeom prst="ellipse">
            <a:avLst/>
          </a:prstGeom>
          <a:solidFill>
            <a:srgbClr val="5C6B7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693408" y="4672584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A24"/>
                </a:solidFill>
              </a:rPr>
              <a:t>The one exception is a genuinely mild case, and it sits at the centre rather than being forced to a side.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5623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9B1B30"/>
                </a:solidFill>
              </a:rPr>
              <a:t>The music reports a degree, not a verdict.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2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A24"/>
                </a:solidFill>
              </a:rPr>
              <a:t>The finding we did not expect</a:t>
            </a:r>
            <a:endParaRPr lang="en-US" sz="3400" dirty="0"/>
          </a:p>
        </p:txBody>
      </p:sp>
      <p:sp>
        <p:nvSpPr>
          <p:cNvPr id="3" name="219-banner"/>
          <p:cNvSpPr/>
          <p:nvPr/>
        </p:nvSpPr>
        <p:spPr>
          <a:xfrm>
            <a:off x="640080" y="132588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141A24"/>
          </a:solidFill>
          <a:ln w="12700">
            <a:solidFill>
              <a:srgbClr val="141A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5727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One recording is labelled “normal” in the database. Our music disagreed — and the music was right.</a:t>
            </a:r>
            <a:endParaRPr lang="en-US" sz="1800" dirty="0"/>
          </a:p>
        </p:txBody>
      </p:sp>
      <p:sp>
        <p:nvSpPr>
          <p:cNvPr id="5" name="card-What the database says"/>
          <p:cNvSpPr/>
          <p:nvPr/>
        </p:nvSpPr>
        <p:spPr>
          <a:xfrm>
            <a:off x="640080" y="2651760"/>
            <a:ext cx="3520440" cy="2057400"/>
          </a:xfrm>
          <a:prstGeom prst="roundRect">
            <a:avLst>
              <a:gd name="adj" fmla="val 2667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88950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6B73"/>
                </a:solidFill>
              </a:rPr>
              <a:t>What the database says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10128"/>
            <a:ext cx="29718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4"/>
                </a:solidFill>
              </a:rPr>
              <a:t>This stretch of record 219 is labelled a normal rhythm, and was used for decades as a normal example.</a:t>
            </a:r>
            <a:endParaRPr lang="en-US" sz="1300" dirty="0"/>
          </a:p>
        </p:txBody>
      </p:sp>
      <p:sp>
        <p:nvSpPr>
          <p:cNvPr id="8" name="card-What our pipeline said"/>
          <p:cNvSpPr/>
          <p:nvPr/>
        </p:nvSpPr>
        <p:spPr>
          <a:xfrm>
            <a:off x="4361688" y="2651760"/>
            <a:ext cx="3520440" cy="2057400"/>
          </a:xfrm>
          <a:prstGeom prst="roundRect">
            <a:avLst>
              <a:gd name="adj" fmla="val 2667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6008" y="288950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1B30"/>
                </a:solidFill>
              </a:rPr>
              <a:t>What our pipeline said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3310128"/>
            <a:ext cx="29718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4"/>
                </a:solidFill>
              </a:rPr>
              <a:t>Every stage flagged it independently. The melody, the harmony and both pretrained models all called the “normal” clip the more disturbed of the two.</a:t>
            </a:r>
            <a:endParaRPr lang="en-US" sz="1300" dirty="0"/>
          </a:p>
        </p:txBody>
      </p:sp>
      <p:sp>
        <p:nvSpPr>
          <p:cNvPr id="11" name="card-Who was right"/>
          <p:cNvSpPr/>
          <p:nvPr/>
        </p:nvSpPr>
        <p:spPr>
          <a:xfrm>
            <a:off x="8083296" y="2651760"/>
            <a:ext cx="3520440" cy="2057400"/>
          </a:xfrm>
          <a:prstGeom prst="roundRect">
            <a:avLst>
              <a:gd name="adj" fmla="val 2667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7616" y="288950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Who was right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357616" y="3310128"/>
            <a:ext cx="29718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4"/>
                </a:solidFill>
              </a:rPr>
              <a:t>The annotations show 133 blocked atrial beats — a genuine irregularity the label never captured. We excluded the record, and kept the finding.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8006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4"/>
                </a:solidFill>
              </a:rPr>
              <a:t>Why this matters for the project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1389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41A24"/>
                </a:solidFill>
              </a:rPr>
              <a:t>We are not claiming to detect disease — existing algorithms do that better. The claim is narrower and more interesting: the music is an instrument for noticing things about a rhythm that a label does not carry.</a:t>
            </a:r>
            <a:endParaRPr lang="en-US" sz="1450" dirty="0"/>
          </a:p>
        </p:txBody>
      </p:sp>
      <p:sp>
        <p:nvSpPr>
          <p:cNvPr id="17" name="Text 0"/>
          <p:cNvSpPr/>
          <p:nvPr>
            <p:ph idx="101" type="body" hasCustomPrompt="1"/>
          </p:nvPr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2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A24"/>
                </a:solidFill>
              </a:rPr>
              <a:t>What we are doing right now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1B30"/>
                </a:solidFill>
              </a:rPr>
              <a:t>Everything above is a measurement on our own output. No human has yet been asked whether any of it is audible.</a:t>
            </a:r>
            <a:endParaRPr lang="en-US" sz="1500" dirty="0"/>
          </a:p>
        </p:txBody>
      </p:sp>
      <p:sp>
        <p:nvSpPr>
          <p:cNvPr id="4" name="study"/>
          <p:cNvSpPr/>
          <p:nvPr/>
        </p:nvSpPr>
        <p:spPr>
          <a:xfrm>
            <a:off x="640080" y="1691640"/>
            <a:ext cx="6858000" cy="3108960"/>
          </a:xfrm>
          <a:prstGeom prst="roundRect">
            <a:avLst>
              <a:gd name="adj" fmla="val 1765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0195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1B30"/>
                </a:solidFill>
              </a:rPr>
              <a:t>A blind listening study — built and ready</a:t>
            </a:r>
            <a:endParaRPr lang="en-US" sz="1700" dirty="0"/>
          </a:p>
        </p:txBody>
      </p:sp>
      <p:sp>
        <p:nvSpPr>
          <p:cNvPr id="6" name="dot-1.0699999999999998-2.69"/>
          <p:cNvSpPr/>
          <p:nvPr/>
        </p:nvSpPr>
        <p:spPr>
          <a:xfrm>
            <a:off x="978408" y="2459736"/>
            <a:ext cx="109728" cy="109728"/>
          </a:xfrm>
          <a:prstGeom prst="ellipse">
            <a:avLst/>
          </a:prstGeom>
          <a:solidFill>
            <a:srgbClr val="9B1B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23774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41A24"/>
                </a:solidFill>
              </a:rPr>
              <a:t>16 clips, 30 seconds each, in random order — nobody is told what they are hearing.</a:t>
            </a:r>
            <a:endParaRPr lang="en-US" sz="1350" dirty="0"/>
          </a:p>
        </p:txBody>
      </p:sp>
      <p:sp>
        <p:nvSpPr>
          <p:cNvPr id="8" name="dot-1.0699999999999998-3.29"/>
          <p:cNvSpPr/>
          <p:nvPr/>
        </p:nvSpPr>
        <p:spPr>
          <a:xfrm>
            <a:off x="978408" y="3008376"/>
            <a:ext cx="109728" cy="109728"/>
          </a:xfrm>
          <a:prstGeom prst="ellipse">
            <a:avLst/>
          </a:prstGeom>
          <a:solidFill>
            <a:srgbClr val="9B1B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34440" y="292608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41A24"/>
                </a:solidFill>
              </a:rPr>
              <a:t>Four questions per clip: how pleasant, how energetic, which word fits, how steady the rhythm felt.</a:t>
            </a:r>
            <a:endParaRPr lang="en-US" sz="1350" dirty="0"/>
          </a:p>
        </p:txBody>
      </p:sp>
      <p:sp>
        <p:nvSpPr>
          <p:cNvPr id="10" name="dot-1.0699999999999998-3.8899999999999997"/>
          <p:cNvSpPr/>
          <p:nvPr/>
        </p:nvSpPr>
        <p:spPr>
          <a:xfrm>
            <a:off x="978408" y="3557016"/>
            <a:ext cx="109728" cy="109728"/>
          </a:xfrm>
          <a:prstGeom prst="ellipse">
            <a:avLst/>
          </a:prstGeom>
          <a:solidFill>
            <a:srgbClr val="9B1B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347472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41A24"/>
                </a:solidFill>
              </a:rPr>
              <a:t>Plain piano throughout, so no instrument can give the answer away.</a:t>
            </a:r>
            <a:endParaRPr lang="en-US" sz="1350" dirty="0"/>
          </a:p>
        </p:txBody>
      </p:sp>
      <p:sp>
        <p:nvSpPr>
          <p:cNvPr id="12" name="dot-1.0699999999999998-4.49"/>
          <p:cNvSpPr/>
          <p:nvPr/>
        </p:nvSpPr>
        <p:spPr>
          <a:xfrm>
            <a:off x="978408" y="4105656"/>
            <a:ext cx="109728" cy="109728"/>
          </a:xfrm>
          <a:prstGeom prst="ellipse">
            <a:avLst/>
          </a:prstGeom>
          <a:solidFill>
            <a:srgbClr val="9B1B3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34440" y="402336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41A24"/>
                </a:solidFill>
              </a:rPr>
              <a:t>Two clips are the disputed record 219, hidden as a control.</a:t>
            </a:r>
            <a:endParaRPr lang="en-US" sz="1350" dirty="0"/>
          </a:p>
        </p:txBody>
      </p:sp>
      <p:sp>
        <p:nvSpPr>
          <p:cNvPr id="14" name="outcomes"/>
          <p:cNvSpPr/>
          <p:nvPr/>
        </p:nvSpPr>
        <p:spPr>
          <a:xfrm>
            <a:off x="7772400" y="1691640"/>
            <a:ext cx="3749040" cy="3108960"/>
          </a:xfrm>
          <a:prstGeom prst="roundRect">
            <a:avLst>
              <a:gd name="adj" fmla="val 1765"/>
            </a:avLst>
          </a:prstGeom>
          <a:solidFill>
            <a:srgbClr val="141A24"/>
          </a:solidFill>
          <a:ln w="12700">
            <a:solidFill>
              <a:srgbClr val="141A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0" y="19019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</a:rPr>
              <a:t>Every outcome is useful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They track our model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26700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3B0B4"/>
                </a:solidFill>
              </a:rPr>
              <a:t>→ the translation works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31272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They hear the rhythm, not the emotion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35112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3B0B4"/>
                </a:solidFill>
              </a:rPr>
              <a:t>→ we learn exactly where it breaks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39684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They hear nothing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43525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3B0B4"/>
                </a:solidFill>
              </a:rPr>
              <a:t>→ an honest negative result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41A24"/>
                </a:solidFill>
              </a:rPr>
              <a:t>This is the step that turns “we built a translation” into “we built a translation and tested it.”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</a:rPr>
              <a:t>All that is missing is listeners. We would like to run it with the class.</a:t>
            </a:r>
            <a:endParaRPr lang="en-US" sz="1400" dirty="0"/>
          </a:p>
        </p:txBody>
      </p:sp>
      <p:sp>
        <p:nvSpPr>
          <p:cNvPr id="25" name="Text 0"/>
          <p:cNvSpPr/>
          <p:nvPr>
            <p:ph idx="101" type="body" hasCustomPrompt="1"/>
          </p:nvPr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2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41A24"/>
                </a:solidFill>
              </a:rPr>
              <a:t>What we can still do in this course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</a:rPr>
              <a:t>Ordered by what each gives us for the effort it costs.</a:t>
            </a:r>
            <a:endParaRPr lang="en-US" sz="1400" dirty="0"/>
          </a:p>
        </p:txBody>
      </p:sp>
      <p:sp>
        <p:nvSpPr>
          <p:cNvPr id="4" name="fut-0"/>
          <p:cNvSpPr/>
          <p:nvPr/>
        </p:nvSpPr>
        <p:spPr>
          <a:xfrm>
            <a:off x="640080" y="1645920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BEEF0"/>
          </a:solidFill>
          <a:ln w="12700">
            <a:solidFill>
              <a:srgbClr val="FBEEF0"/>
            </a:solidFill>
            <a:prstDash val="solid"/>
          </a:ln>
        </p:spPr>
      </p:sp>
      <p:sp>
        <p:nvSpPr>
          <p:cNvPr id="5" name="dot-1-2.11"/>
          <p:cNvSpPr/>
          <p:nvPr/>
        </p:nvSpPr>
        <p:spPr>
          <a:xfrm>
            <a:off x="914400" y="1929384"/>
            <a:ext cx="118872" cy="118872"/>
          </a:xfrm>
          <a:prstGeom prst="ellipse">
            <a:avLst/>
          </a:prstGeom>
          <a:solidFill>
            <a:srgbClr val="9B1B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52144" y="18105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4"/>
                </a:solidFill>
              </a:rPr>
              <a:t>Run the listening study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983480" y="1828800"/>
            <a:ext cx="777240" cy="256032"/>
          </a:xfrm>
          <a:prstGeom prst="rect">
            <a:avLst/>
          </a:prstGeom>
          <a:solidFill>
            <a:srgbClr val="9B1B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215798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73"/>
                </a:solidFill>
              </a:rPr>
              <a:t>One class session. Finishes the half of the project that is about music reaching a listener.</a:t>
            </a:r>
            <a:endParaRPr lang="en-US" sz="1250" dirty="0"/>
          </a:p>
        </p:txBody>
      </p:sp>
      <p:sp>
        <p:nvSpPr>
          <p:cNvPr id="9" name="fut-1"/>
          <p:cNvSpPr/>
          <p:nvPr/>
        </p:nvSpPr>
        <p:spPr>
          <a:xfrm>
            <a:off x="6263640" y="1645920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10" name="dot-7.15-2.11"/>
          <p:cNvSpPr/>
          <p:nvPr/>
        </p:nvSpPr>
        <p:spPr>
          <a:xfrm>
            <a:off x="6537960" y="1929384"/>
            <a:ext cx="118872" cy="118872"/>
          </a:xfrm>
          <a:prstGeom prst="ellipse">
            <a:avLst/>
          </a:prstGeom>
          <a:solidFill>
            <a:srgbClr val="9B1B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75704" y="18105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4"/>
                </a:solidFill>
              </a:rPr>
              <a:t>Tune the music by ear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775704" y="215798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73"/>
                </a:solidFill>
              </a:rPr>
              <a:t>Every threshold so far is justified by what it measures, not how it sounds. For a music course, that is the gap worth closing.</a:t>
            </a:r>
            <a:endParaRPr lang="en-US" sz="1250" dirty="0"/>
          </a:p>
        </p:txBody>
      </p:sp>
      <p:sp>
        <p:nvSpPr>
          <p:cNvPr id="13" name="fut-2"/>
          <p:cNvSpPr/>
          <p:nvPr/>
        </p:nvSpPr>
        <p:spPr>
          <a:xfrm>
            <a:off x="640080" y="3127248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14" name="dot-1-3.73"/>
          <p:cNvSpPr/>
          <p:nvPr/>
        </p:nvSpPr>
        <p:spPr>
          <a:xfrm>
            <a:off x="914400" y="3410712"/>
            <a:ext cx="118872" cy="118872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" y="3291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4"/>
                </a:solidFill>
              </a:rPr>
              <a:t>Widen the evidence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363931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73"/>
                </a:solidFill>
              </a:rPr>
              <a:t>We use 5 recordings; about 21 are usable. Nearly free, and roughly triples the evidence base.</a:t>
            </a:r>
            <a:endParaRPr lang="en-US" sz="1250" dirty="0"/>
          </a:p>
        </p:txBody>
      </p:sp>
      <p:sp>
        <p:nvSpPr>
          <p:cNvPr id="17" name="fut-3"/>
          <p:cNvSpPr/>
          <p:nvPr/>
        </p:nvSpPr>
        <p:spPr>
          <a:xfrm>
            <a:off x="6263640" y="3127248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18" name="dot-7.15-3.73"/>
          <p:cNvSpPr/>
          <p:nvPr/>
        </p:nvSpPr>
        <p:spPr>
          <a:xfrm>
            <a:off x="6537960" y="3410712"/>
            <a:ext cx="118872" cy="118872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75704" y="3291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4"/>
                </a:solidFill>
              </a:rPr>
              <a:t>Finish the cross-check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775704" y="363931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73"/>
                </a:solidFill>
              </a:rPr>
              <a:t>Re-run the two pretrained models so the whole results section is independently verified.</a:t>
            </a:r>
            <a:endParaRPr lang="en-US" sz="1250" dirty="0"/>
          </a:p>
        </p:txBody>
      </p:sp>
      <p:sp>
        <p:nvSpPr>
          <p:cNvPr id="21" name="fut-4"/>
          <p:cNvSpPr/>
          <p:nvPr/>
        </p:nvSpPr>
        <p:spPr>
          <a:xfrm>
            <a:off x="640080" y="4608576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22" name="dot-1-5.35"/>
          <p:cNvSpPr/>
          <p:nvPr/>
        </p:nvSpPr>
        <p:spPr>
          <a:xfrm>
            <a:off x="914400" y="4892040"/>
            <a:ext cx="118872" cy="118872"/>
          </a:xfrm>
          <a:prstGeom prst="ellipse">
            <a:avLst/>
          </a:prstGeom>
          <a:solidFill>
            <a:srgbClr val="5C6B7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52144" y="47731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4"/>
                </a:solidFill>
              </a:rPr>
              <a:t>A mapping for healthy hearts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" y="5120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73"/>
                </a:solidFill>
              </a:rPr>
              <a:t>Calm breathing raises variability, which our rule would misread as tension. Breathing sits at a distinct rate, so it can be separated.</a:t>
            </a:r>
            <a:endParaRPr lang="en-US" sz="1250" dirty="0"/>
          </a:p>
        </p:txBody>
      </p:sp>
      <p:sp>
        <p:nvSpPr>
          <p:cNvPr id="25" name="fut-5"/>
          <p:cNvSpPr/>
          <p:nvPr/>
        </p:nvSpPr>
        <p:spPr>
          <a:xfrm>
            <a:off x="6263640" y="4608576"/>
            <a:ext cx="5349240" cy="1298448"/>
          </a:xfrm>
          <a:prstGeom prst="roundRect">
            <a:avLst>
              <a:gd name="adj" fmla="val 4225"/>
            </a:avLst>
          </a:prstGeom>
          <a:solidFill>
            <a:srgbClr val="F7F3F2"/>
          </a:solidFill>
          <a:ln w="12700">
            <a:solidFill>
              <a:srgbClr val="F7F3F2"/>
            </a:solidFill>
            <a:prstDash val="solid"/>
          </a:ln>
        </p:spPr>
      </p:sp>
      <p:sp>
        <p:nvSpPr>
          <p:cNvPr id="26" name="dot-7.15-5.35"/>
          <p:cNvSpPr/>
          <p:nvPr/>
        </p:nvSpPr>
        <p:spPr>
          <a:xfrm>
            <a:off x="6537960" y="4892040"/>
            <a:ext cx="118872" cy="118872"/>
          </a:xfrm>
          <a:prstGeom prst="ellipse">
            <a:avLst/>
          </a:prstGeom>
          <a:solidFill>
            <a:srgbClr val="5C6B7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75704" y="47731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4"/>
                </a:solidFill>
              </a:rPr>
              <a:t>A live demo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775704" y="5120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6B73"/>
                </a:solidFill>
              </a:rPr>
              <a:t>Drop in any ECG file and play the result. The code already does this.</a:t>
            </a:r>
            <a:endParaRPr lang="en-US" sz="1250" dirty="0"/>
          </a:p>
        </p:txBody>
      </p:sp>
      <p:sp>
        <p:nvSpPr>
          <p:cNvPr id="30" name="Text 0"/>
          <p:cNvSpPr/>
          <p:nvPr>
            <p:ph idx="101" type="body" hasCustomPrompt="1"/>
          </p:nvPr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3550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2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Where we stand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5204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8DEDF"/>
                </a:solidFill>
              </a:rPr>
              <a:t>We built a complete, transparent system that turns a heartbeat into music, where every decision is stated and testable. Along the way it caught a mislabelled recording in a database used for decades.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262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</a:rPr>
              <a:t>What nobody in this area usually checks — whether a listener can actually hear what the mapping encodes — is what we are testing next.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669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A227"/>
                </a:solidFill>
              </a:rPr>
              <a:t>Thank you — questions welcome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nifying the Heart">
  <a:themeElements>
    <a:clrScheme name="Sonifying the Heart">
      <a:dk1>
        <a:srgbClr val="141A24"/>
      </a:dk1>
      <a:lt1>
        <a:srgbClr val="FFFFFF"/>
      </a:lt1>
      <a:dk2>
        <a:srgbClr val="2B1A1E"/>
      </a:dk2>
      <a:lt2>
        <a:srgbClr val="F7F3F2"/>
      </a:lt2>
      <a:accent1>
        <a:srgbClr val="9B1B30"/>
      </a:accent1>
      <a:accent2>
        <a:srgbClr val="1F5F8B"/>
      </a:accent2>
      <a:accent3>
        <a:srgbClr val="5C6B73"/>
      </a:accent3>
      <a:accent4>
        <a:srgbClr val="C9A227"/>
      </a:accent4>
      <a:accent5>
        <a:srgbClr val="8A949B"/>
      </a:accent5>
      <a:accent6>
        <a:srgbClr val="D6C2C6"/>
      </a:accent6>
      <a:hlink>
        <a:srgbClr val="1F5F8B"/>
      </a:hlink>
      <a:folHlink>
        <a:srgbClr val="5C6B73"/>
      </a:folHlink>
    </a:clrScheme>
    <a:fontScheme name="Sonifying the Hear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Sonifying the Heart</dc:title>
  <dc:subject>PptxGenJS Presentation</dc:subject>
  <dc:creator>Chervith Reddy, Manidhar Sukasi, Sathwik Reddy</dc:creator>
  <cp:lastModifiedBy>Chervith Reddy, Manidhar Sukasi, Sathwik Reddy</cp:lastModifiedBy>
  <cp:revision>1</cp:revision>
  <dcterms:created xsi:type="dcterms:W3CDTF">2026-10-09T07:33:54Z</dcterms:created>
  <dcterms:modified xsi:type="dcterms:W3CDTF">2026-10-09T07:33:54Z</dcterms:modified>
</cp:coreProperties>
</file>